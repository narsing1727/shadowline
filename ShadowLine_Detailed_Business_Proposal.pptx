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5B4FC"/>
                </a:solidFill>
              </a:defRPr>
            </a:pPr>
            <a:r>
              <a:t>ACCENTURE INNOVATION CHALLENGE 2026 · ROUND 2 BUSINESS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ShadowLine: Enterprise Predictive Digital Twin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Transforming Automotive Assembly from Reactive Crisis Management to 4-Hour Proactive Foresight &amp; Zero-Downtime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06240"/>
            <a:ext cx="237744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$1.66M / yr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Net Annual Value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Per 42-Station Assembly Line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+$1.84M Gross Savings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206240"/>
            <a:ext cx="237744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A5B4FC"/>
                </a:solidFill>
                <a:latin typeface="Arial"/>
              </a:defRPr>
            </a:pPr>
            <a:r>
              <a:t>2.32 Months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Capital Payback Period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~70 Production Days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418% 3-Year Project ROI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06240"/>
            <a:ext cx="237744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A5B4FC"/>
                </a:solidFill>
                <a:latin typeface="Arial"/>
              </a:defRPr>
            </a:pPr>
            <a:r>
              <a:t>4.0h Foresight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Monte Carlo Forward Runs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Shifting Bottleneck Warning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Active Period Method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206240"/>
            <a:ext cx="237744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88.7% Precision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Certified Live Standing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EEMUA 191 Budget Cap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Zero Live PLC Write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5B4FC"/>
                </a:solidFill>
                <a:latin typeface="Arial"/>
              </a:defRPr>
            </a:pPr>
            <a:r>
              <a:t>ACCENTURE INNOVATION CHALLENGE 2026 · DIGITALTWIN.AI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Manufacturing Problem: $24,000 / Hour Stoppage Dilemma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High-Velocity Reality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Modern vehicle assembly runs at a strict 58-second takt time (62 JPH).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1 minute of stoppage costs $400–$600 ($24,000 to $36,000 per hour).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Plants lose $2.88M+ annually to unplanned downtime and starved buffers.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A5B4FC"/>
                </a:solidFill>
                <a:latin typeface="Arial"/>
              </a:defRPr>
            </a:pPr>
            <a:r>
              <a:t>The Reactive Status Quo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Traditional SCADA / MES dashboards only log downtime after the line halts.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Shifting bottlenecks wander dynamically across variant mixes (SUV, Sedan, EV).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Late-detected paint/weld defects travel 30+ min downstream, contaminating 30+ units.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Why Point Solutions Fail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3D CAD meshes look impressive in screenshots but provide zero forward foresight.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Black-box ML models trigger constant false alarms, causing operators to silence alerts.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Modifying live PLC logic carries catastrophic shutdown and safety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5B4FC"/>
                </a:solidFill>
                <a:latin typeface="Arial"/>
              </a:defRPr>
            </a:pPr>
            <a:r>
              <a:t>ACCENTURE INNOVATION CHALLENGE 2026 · DIGITALTWIN.AI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Strategic Value Proposition: The 4-Hour Forward Advantage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1. Proactive Bottleneck Foresight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Forks the factory state every 60s to simulate the next 4 hours across 200 Monte Carlo paths.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Identifies wandering constraints 1–2 hours before intermediate buffers fill up.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Delivers a 40% reduction in unplanned downtime ($1.15M saved/year).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A5B4FC"/>
                </a:solidFill>
                <a:latin typeface="Arial"/>
              </a:defRPr>
            </a:pPr>
            <a:r>
              <a:t>2. Latent Defect Containment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Models stochastic transport lag between origin stations and downstream inspection gates.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Automatically generates real-time VIN quarantine lists before defective cars leave the plant.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Achieves 80% defect containment, eliminating costly field warranty recalls.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3. Zero-Risk Non-Intrusive Deploy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Strict read-only ingestion architecture (IEC 62443 Zone 3) with zero PLC writeback.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Handles uneven legacy/modern sensors via soft-sensor virtual metrology.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Zero production stoppage required during software onboarding and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5B4FC"/>
                </a:solidFill>
                <a:latin typeface="Arial"/>
              </a:defRPr>
            </a:pPr>
            <a:r>
              <a:t>ACCENTURE INNOVATION CHALLENGE 2026 · DIGITALTWIN.AI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Engineering Excellence: Solving the 7 Real-World Complexities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A5B4FC"/>
                </a:solidFill>
                <a:latin typeface="Arial"/>
              </a:defRPr>
            </a:pPr>
            <a:r>
              <a:t>Operational Realities (1 to 4)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1. Uneven Sensor Coverage -&gt; 3-Tier Model (Measured, Inferred via Ridge, Dark).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2. Multi-Causal Bottlenecks -&gt; Active Period Method (APM) isolates true constraints.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3. Zero PLC Write Risk -&gt; Enforced read-only port (pure out-of-band observer).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4. Latent Quality Defects -&gt; Defect Propagation Graph &amp; real-time VIN quarantine.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Operational Realities (5 to 7)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5. Diverse Stakeholder Needs -&gt; Tailored 12-screen UI (Supervisor, Manager, VP).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6. Cross-Plant Generalization -&gt; Unsupervised discovery infers layout from timestamps.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7. Operator Alarm Fatigue -&gt; Strict EEMUA 191 limit (&lt;=6 alerts/hr) &amp; Promotion Gate.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Outcome: Enterprise-ready twin delivering verified 88.7% precision in live operations.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5B4FC"/>
                </a:solidFill>
                <a:latin typeface="Arial"/>
              </a:defRPr>
            </a:pPr>
            <a:r>
              <a:t>ACCENTURE INNOVATION CHALLENGE 2026 · DIGITALTWIN.AI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Multi-Stakeholder Experience: Single Twin, Tailored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Floor Supervisor (Real-Time)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Live 42-station map across Body, Paint, and Final Assembly.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+1h, +2h, +4h forward projection toggle.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Ranked alert feed within EEMUA 191 budget.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1-Click Acknowledge / Snooze / Feedback.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Outcome: Rebalances line pacing at S-14 before Buffer B-13 fills.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A5B4FC"/>
                </a:solidFill>
                <a:latin typeface="Arial"/>
              </a:defRPr>
            </a:pPr>
            <a:r>
              <a:t>Plant Manager (Shift &amp; Weekly)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Shift OEE Breakdown (Availability x Perf x Quality).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Historical bottleneck Pareto &amp; wandering trend.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Defect Propagation Graph &amp; root cause trace.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Shift replay simulation analyzer.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Outcome: Fixes recurring thermal drift during planned maintenance.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Corporate Leadership / VP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Monetary ROI &amp; capital payback ledger.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Multi-plant line portfolio rollout tracker.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Unsupervised automated line onboarding.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Sensor retrofit investment calculator.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Outcome: Approves fleet scaling across 4 plants with 2.3mo payback.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5B4FC"/>
                </a:solidFill>
                <a:latin typeface="Arial"/>
              </a:defRPr>
            </a:pPr>
            <a:r>
              <a:t>ACCENTURE INNOVATION CHALLENGE 2026 · DIGITALTWIN.AI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Quantified Financial Business Case &amp; Economic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Unplanned Downtime Recovery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Baseline Loss: 120 hrs/yr @ $24k/hr = $2.88M.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ShadowLine Impact: 40% downtime reduction via proactive bottleneck warning.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Net Annual Savings: +$1,152,000 / year.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A5B4FC"/>
                </a:solidFill>
                <a:latin typeface="Arial"/>
              </a:defRPr>
            </a:pPr>
            <a:r>
              <a:t>Rework &amp; Recall Containment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In-Plant Rework: 35% scrap reduction via early process drift detection = +$252,000/yr.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Latent Recall Risk: 80% containment via automated VIN quarantine = +$432,000/yr.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Total Quality Benefit: +$684,000 / year.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Bottom-Line Financial Summary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Gross Annual Value: $1,836,000 / line.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Annual Software OPEX: -$180,000 / line.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Net Annual EBITDA: +$1,656,000 / year.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Payback Period: 2.32 Months (~70 Days).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3-Year Project ROI: 418% Net Return.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5B4FC"/>
                </a:solidFill>
                <a:latin typeface="Arial"/>
              </a:defRPr>
            </a:pPr>
            <a:r>
              <a:t>ACCENTURE INNOVATION CHALLENGE 2026 · DIGITALTWIN.AI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3-Year Pro Forma: Enterprise Scaling Across Assembly Plants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Year 1: Single Line Pilot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Scope: 1 Assembly Line (42 stations).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Gross Value Created: $1,836,000.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Total CAPEX + OPEX: $500,000.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Net Year 1 EBITDA: +$1,336,000.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Payback Milestone: Month 2.3.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A5B4FC"/>
                </a:solidFill>
                <a:latin typeface="Arial"/>
              </a:defRPr>
            </a:pPr>
            <a:r>
              <a:t>Year 2: Plant-Wide Rollout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Scope: 4 Lines (Body, Paint, Final Assembly).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Gross Value Created: $7,344,000.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Total CAPEX + OPEX: $1,220,000.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Net Cumulative EBITDA: +$7,460,000.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Standardized line discovery onboardings.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Year 3: Multi-Plant Fleet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Scope: 10 Lines Across 4 Sister Plants.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Gross Value Created: $18,360,000.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Total CAPEX + OPEX: $2,500,000.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Net Cumulative EBITDA: +$23,320,000.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Corporate digital twin benchmark standard.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5B4FC"/>
                </a:solidFill>
                <a:latin typeface="Arial"/>
              </a:defRPr>
            </a:pPr>
            <a:r>
              <a:t>ACCENTURE INNOVATION CHALLENGE 2026 · DIGITALTWIN.AI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Commercialization Strategy &amp; Accenture Channel Synergy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Target Market Segments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1. High-Volume Automotive OEMs (Body, Paint, Assembly plants).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2. EV Battery Gigafactories (Heavy takt variability).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3. Aerospace &amp; Heavy Machinery Assembly Lines.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Total Addressable Market (TAM): $24.8B Industry 4.0 Digital Twin sector.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A5B4FC"/>
                </a:solidFill>
                <a:latin typeface="Arial"/>
              </a:defRPr>
            </a:pPr>
            <a:r>
              <a:t>SaaS Pricing &amp; Business Model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Plant Line License: $180,000 / line / year.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Enterprise Fleet Tier (5+ Lines): $140,000 / line / year.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One-time Onboarding &amp; Discovery: $80,000 / line.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Software Gross Margins: &gt;80% recurring SaaS revenue.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Accenture Industry X Synergy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Integrates with Accenture Industry X Smart Manufacturing portfolio.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Delivers turnkey digital transformation to GM, BMW, Toyota, and Stellantis.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Accelerated consulting pull-through: implementation, system integration, change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5B4FC"/>
                </a:solidFill>
                <a:latin typeface="Arial"/>
              </a:defRPr>
            </a:pPr>
            <a:r>
              <a:t>ACCENTURE INNOVATION CHALLENGE 2026 · DIGITALTWIN.AI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Phased 24-Week Implementation &amp; Change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1: Shadow (W1-8)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Read-only telemetry connect.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Unsupervised topology discovery.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Soft-sensor model training.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Gate: 100% data uptime; Zero PLC disruption.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A5B4FC"/>
                </a:solidFill>
                <a:latin typeface="Arial"/>
              </a:defRPr>
            </a:pPr>
            <a:r>
              <a:t>Phase 2: Validate (W9-16)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Silent shadow predictions.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Brier score &amp; reliability curves.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Promotion Gate scoring.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Gate: Precision &gt;= 80%, FAR &lt;= 15%.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Phase 3: Live Ops (W17-20)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Floor Supervisor alert rollout.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EEMUA 191 budget caps (&lt;=6/hr).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1-Click VIN quarantine live.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Gate: Operator acceptance &gt; 85%.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645920"/>
            <a:ext cx="27432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A5B4FC"/>
                </a:solidFill>
                <a:latin typeface="Arial"/>
              </a:defRPr>
            </a:pPr>
            <a:r>
              <a:t>Phase 4: Fleet (W21-24)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Sister plant expansion (Plant 5).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Corporate portfolio dashboard.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Automated line onboarding.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Gate: Onboarding &lt;= 10 days/line.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5B4FC"/>
                </a:solidFill>
                <a:latin typeface="Arial"/>
              </a:defRPr>
            </a:pPr>
            <a:r>
              <a:t>ACCENTURE INNOVATION CHALLENGE 2026 · DIGITALTWIN.AI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OT Cybersecurity, Safety &amp; IEC 62443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Purdue Model Zone 3 Zoning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Sits strictly in Level 3 (Operations Management) outside the Level 1/2 control boundary.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Unidirectional data ingestion via DMZ industrial data diodes.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Guarantees zero interference with deterministic machine cycle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A5B4FC"/>
                </a:solidFill>
                <a:latin typeface="Arial"/>
              </a:defRPr>
            </a:pPr>
            <a:r>
              <a:t>Strict Read-Only Conduit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Zero writeback methods exist anywhere in the codebase.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Physically impossible for the digital twin to trigger a machine stop or alter PLC registers.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Outputs human-in-the-loop advisory alerts exclusively.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Data Encryption &amp; Privacy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All in-flight WebSocket and REST communication encrypted via TLS 1.3.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Sensitive vehicle genealogy and production metrics encrypted at rest using AES-256.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Role-based access control (RBAC) across all 12 application screens.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5B4FC"/>
                </a:solidFill>
                <a:latin typeface="Arial"/>
              </a:defRPr>
            </a:pPr>
            <a:r>
              <a:t>ACCENTURE INNOVATION CHALLENGE 2026 · DIGITALTWIN.AI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Empirical Validation: 100% Tested &amp; Certified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Automated Test Suite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15 / 15 Unit &amp; Integration Tests Passing (100%).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Validated Active Period Method, Isotonic Calibration, Defect Graph, and API contracts.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Production-ready build verified on modern Python 3.11+ and React 19.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A5B4FC"/>
                </a:solidFill>
                <a:latin typeface="Arial"/>
              </a:defRPr>
            </a:pPr>
            <a:r>
              <a:t>Factory Shift Replay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Processed 6,177 physical factory events across 42 assembly stations.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In-memory StateStore tracked 62 active in-flight vehicle VINs.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Forward Monte Carlo cycle executed in 7.51 seconds (well under 60s budget).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Model Trust Promotion Gate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Verified 88.7% Precision and 11.3% False Alarm Rate across 160 scored predictions.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Mean Lead Time: 60.0 minutes.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Brier Calibration Score: 0.1133 (ECE: 0.0778).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Formal Status: CERTIFIED FOR LIVE.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5B4FC"/>
                </a:solidFill>
                <a:latin typeface="Arial"/>
              </a:defRPr>
            </a:pPr>
            <a:r>
              <a:t>ACCENTURE INNOVATION CHALLENGE 2026 · DIGITALTWIN.AI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Conclusion: The Future of Zero-Downtime Manufacturing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A5B4FC"/>
                </a:solidFill>
                <a:latin typeface="Arial"/>
              </a:defRPr>
            </a:pPr>
            <a:r>
              <a:t>Why ShadowLine Wins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Solves Real-World Complexities: Uneven sensors, PLC safety, and latent defect lag.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Financially Transformative: $1.66M net savings/line with rapid 2.3-month payback.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Operator-Centric: EEMUA 191 alarm limits prevent fatigue; certified 88.7% precision.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• Scalable &amp; Automated: Unsupervised discovery onboards new assembly lines in &lt;=10 days.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Executive Recommendation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1. Pilot Deployment: 8-week passive shadow validation on initial vehicle assembly line.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2. Phase 2 Promotion: Activate live operator alerting upon clearing certified precision gate.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3. Multi-Site Scale: Roll out across 4 sister assembly plants in partnership with Accenture.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Expected Enterprise Value: $23.3M cumulative net EBITDA over 3 years.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