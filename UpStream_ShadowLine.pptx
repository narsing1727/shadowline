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4" r:id="rId3"/>
    <p:sldMasterId id="2147483699" r:id="rId4"/>
    <p:sldMasterId id="2147483713" r:id="rId5"/>
  </p:sldMasterIdLst>
  <p:notesMasterIdLst>
    <p:notesMasterId r:id="rId12"/>
  </p:notesMasterIdLst>
  <p:sldIdLst>
    <p:sldId id="820" r:id="rId6"/>
    <p:sldId id="2857" r:id="rId7"/>
    <p:sldId id="1906872563" r:id="rId8"/>
    <p:sldId id="1906872569" r:id="rId9"/>
    <p:sldId id="1906872570"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19.png"/><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31273184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655272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79483210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3639668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7592727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94660267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35798953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33236912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06299295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41237929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31035953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42897873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506925786"/>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009770318"/>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4828157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195989512"/>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42063165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
        <p:nvSpPr>
          <p:cNvPr id="11" name="Footer Placeholder 6">
            <a:extLst>
              <a:ext uri="{FF2B5EF4-FFF2-40B4-BE49-F238E27FC236}">
                <a16:creationId xmlns:a16="http://schemas.microsoft.com/office/drawing/2014/main" id="{91C0017E-4521-4295-9033-A405A2FA81F4}"/>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2" name="Slide Number Placeholder 9">
            <a:extLst>
              <a:ext uri="{FF2B5EF4-FFF2-40B4-BE49-F238E27FC236}">
                <a16:creationId xmlns:a16="http://schemas.microsoft.com/office/drawing/2014/main" id="{43EE0978-DC3A-4D86-83BC-C2F42549CA64}"/>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pic>
        <p:nvPicPr>
          <p:cNvPr id="5" name="Picture 4" descr="A picture containing drawing, clock&#10;&#10;Description automatically generated">
            <a:extLst>
              <a:ext uri="{FF2B5EF4-FFF2-40B4-BE49-F238E27FC236}">
                <a16:creationId xmlns:a16="http://schemas.microsoft.com/office/drawing/2014/main" id="{74B3D656-7B78-4FFC-881D-DD01CAC5AD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46195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668701291"/>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8/16/2026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16-08-2026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16-08-2026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r>
            <a:r>
              <a:rPr lang="en-US" err="1"/>
              <a:t>adipiscing</a:t>
            </a:r>
            <a:r>
              <a:rPr lang="en-US"/>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image" Target="../media/image12.png"/><Relationship Id="rId3" Type="http://schemas.openxmlformats.org/officeDocument/2006/relationships/slideLayout" Target="../slideLayouts/slideLayout12.xml"/><Relationship Id="rId21" Type="http://schemas.openxmlformats.org/officeDocument/2006/relationships/image" Target="../media/image7.png"/><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image" Target="../media/image11.png"/><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image" Target="../media/image10.png"/><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image" Target="../media/image9.png"/><Relationship Id="rId28" Type="http://schemas.openxmlformats.org/officeDocument/2006/relationships/image" Target="../media/image14.png"/><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image" Target="../media/image8.png"/><Relationship Id="rId27" Type="http://schemas.openxmlformats.org/officeDocument/2006/relationships/image" Target="../media/image13.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5" Type="http://schemas.openxmlformats.org/officeDocument/2006/relationships/theme" Target="../theme/theme3.xml"/><Relationship Id="rId4"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slideLayout" Target="../slideLayouts/slideLayout92.xml"/><Relationship Id="rId50" Type="http://schemas.openxmlformats.org/officeDocument/2006/relationships/slideLayout" Target="../slideLayouts/slideLayout95.xml"/><Relationship Id="rId55" Type="http://schemas.openxmlformats.org/officeDocument/2006/relationships/slideLayout" Target="../slideLayouts/slideLayout100.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slideLayout" Target="../slideLayouts/slideLayout90.xml"/><Relationship Id="rId53" Type="http://schemas.openxmlformats.org/officeDocument/2006/relationships/slideLayout" Target="../slideLayouts/slideLayout98.xml"/><Relationship Id="rId58" Type="http://schemas.openxmlformats.org/officeDocument/2006/relationships/theme" Target="../theme/theme5.xml"/><Relationship Id="rId5" Type="http://schemas.openxmlformats.org/officeDocument/2006/relationships/slideLayout" Target="../slideLayouts/slideLayout50.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48" Type="http://schemas.openxmlformats.org/officeDocument/2006/relationships/slideLayout" Target="../slideLayouts/slideLayout93.xml"/><Relationship Id="rId56" Type="http://schemas.openxmlformats.org/officeDocument/2006/relationships/slideLayout" Target="../slideLayouts/slideLayout101.xml"/><Relationship Id="rId8" Type="http://schemas.openxmlformats.org/officeDocument/2006/relationships/slideLayout" Target="../slideLayouts/slideLayout53.xml"/><Relationship Id="rId51" Type="http://schemas.openxmlformats.org/officeDocument/2006/relationships/slideLayout" Target="../slideLayouts/slideLayout96.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slideLayout" Target="../slideLayouts/slideLayout91.xml"/><Relationship Id="rId20" Type="http://schemas.openxmlformats.org/officeDocument/2006/relationships/slideLayout" Target="../slideLayouts/slideLayout65.xml"/><Relationship Id="rId41" Type="http://schemas.openxmlformats.org/officeDocument/2006/relationships/slideLayout" Target="../slideLayouts/slideLayout86.xml"/><Relationship Id="rId54" Type="http://schemas.openxmlformats.org/officeDocument/2006/relationships/slideLayout" Target="../slideLayouts/slideLayout99.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49" Type="http://schemas.openxmlformats.org/officeDocument/2006/relationships/slideLayout" Target="../slideLayouts/slideLayout94.xml"/><Relationship Id="rId57" Type="http://schemas.openxmlformats.org/officeDocument/2006/relationships/slideLayout" Target="../slideLayouts/slideLayout102.xml"/><Relationship Id="rId10" Type="http://schemas.openxmlformats.org/officeDocument/2006/relationships/slideLayout" Target="../slideLayouts/slideLayout55.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52"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8"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7057270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16-08-2026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Graphik Semibold" panose="020B0503030202060203" pitchFamily="34" charset="77"/>
                <a:ea typeface="+mn-ea"/>
                <a:cs typeface="+mn-cs"/>
              </a:rPr>
              <a:t>AI reinvention made real</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panose="020B0503030202060203" pitchFamily="34" charset="77"/>
                <a:ea typeface="+mn-ea"/>
                <a:cs typeface="+mn-cs"/>
              </a:rPr>
              <a:t>Accenture Innovation Challenge 2026</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3E37827-E5D7-46FD-9143-ABFBF88A628E}"/>
              </a:ext>
            </a:extLst>
          </p:cNvPr>
          <p:cNvSpPr/>
          <p:nvPr/>
        </p:nvSpPr>
        <p:spPr>
          <a:xfrm>
            <a:off x="7385349" y="2505161"/>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171E876B-A706-450C-8C34-951E6FA6C00F}"/>
              </a:ext>
            </a:extLst>
          </p:cNvPr>
          <p:cNvSpPr/>
          <p:nvPr/>
        </p:nvSpPr>
        <p:spPr>
          <a:xfrm>
            <a:off x="852718" y="2506579"/>
            <a:ext cx="1443661" cy="1471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8" name="Title 17">
            <a:extLst>
              <a:ext uri="{FF2B5EF4-FFF2-40B4-BE49-F238E27FC236}">
                <a16:creationId xmlns:a16="http://schemas.microsoft.com/office/drawing/2014/main" id="{00A31654-439B-4571-B7B1-2E29E58E752A}"/>
              </a:ext>
            </a:extLst>
          </p:cNvPr>
          <p:cNvSpPr>
            <a:spLocks noGrp="1"/>
          </p:cNvSpPr>
          <p:nvPr>
            <p:ph type="title"/>
          </p:nvPr>
        </p:nvSpPr>
        <p:spPr>
          <a:xfrm>
            <a:off x="461913" y="525056"/>
            <a:ext cx="11430000" cy="726439"/>
          </a:xfrm>
        </p:spPr>
        <p:txBody>
          <a:bodyPr/>
          <a:lstStyle/>
          <a:p>
            <a:r>
              <a:rPr lang="en-US" dirty="0"/>
              <a:t>Team details</a:t>
            </a:r>
            <a:endParaRPr lang="en-GB" dirty="0"/>
          </a:p>
        </p:txBody>
      </p:sp>
      <p:sp>
        <p:nvSpPr>
          <p:cNvPr id="10" name="Slide Number Placeholder 9">
            <a:extLst>
              <a:ext uri="{FF2B5EF4-FFF2-40B4-BE49-F238E27FC236}">
                <a16:creationId xmlns:a16="http://schemas.microsoft.com/office/drawing/2014/main" id="{4258B87F-AD17-4B30-9FAA-C5C07FCFFE87}"/>
              </a:ext>
            </a:extLst>
          </p:cNvPr>
          <p:cNvSpPr>
            <a:spLocks noGrp="1"/>
          </p:cNvSpPr>
          <p:nvPr>
            <p:ph type="sldNum" sz="quarter" idx="4294967295"/>
          </p:nvPr>
        </p:nvSpPr>
        <p:spPr>
          <a:xfrm>
            <a:off x="11506202" y="6519009"/>
            <a:ext cx="385711" cy="20637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solidFill>
                  <a:srgbClr val="000000">
                    <a:alpha val="40000"/>
                  </a:srgb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000000">
                  <a:alpha val="40000"/>
                </a:srgbClr>
              </a:solidFill>
              <a:effectLst/>
              <a:uLnTx/>
              <a:uFillTx/>
              <a:latin typeface="Arial"/>
              <a:ea typeface="+mn-ea"/>
              <a:cs typeface="+mn-cs"/>
            </a:endParaRPr>
          </a:p>
        </p:txBody>
      </p:sp>
      <p:pic>
        <p:nvPicPr>
          <p:cNvPr id="23" name="Picture Placeholder 75">
            <a:extLst>
              <a:ext uri="{FF2B5EF4-FFF2-40B4-BE49-F238E27FC236}">
                <a16:creationId xmlns:a16="http://schemas.microsoft.com/office/drawing/2014/main" id="{8DF0ED10-FA32-47BA-8D4F-7620C7B46F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5991" y="2424324"/>
            <a:ext cx="1434219" cy="1434219"/>
          </a:xfrm>
          <a:prstGeom prst="rect">
            <a:avLst/>
          </a:prstGeom>
        </p:spPr>
      </p:pic>
      <p:sp>
        <p:nvSpPr>
          <p:cNvPr id="39" name="Text Placeholder 27">
            <a:extLst>
              <a:ext uri="{FF2B5EF4-FFF2-40B4-BE49-F238E27FC236}">
                <a16:creationId xmlns:a16="http://schemas.microsoft.com/office/drawing/2014/main" id="{1D437424-4E2F-45EB-945E-4A07F8154854}"/>
              </a:ext>
            </a:extLst>
          </p:cNvPr>
          <p:cNvSpPr txBox="1">
            <a:spLocks/>
          </p:cNvSpPr>
          <p:nvPr/>
        </p:nvSpPr>
        <p:spPr>
          <a:xfrm>
            <a:off x="2637616" y="2098914"/>
            <a:ext cx="3177007" cy="811161"/>
          </a:xfrm>
          <a:prstGeom prst="rect">
            <a:avLst/>
          </a:prstGeom>
        </p:spPr>
        <p:txBody>
          <a:bodyPr vert="horz" lIns="0" tIns="0" rIns="0" bIns="0" rtlCol="0" anchor="b">
            <a:normAutofit fontScale="92500" lnSpcReduction="1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Arial"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kumimoji="0" lang="en-GB" sz="3600" b="1" i="0" u="none" strike="noStrike" kern="1200" cap="none" spc="0" normalizeH="0" baseline="0" noProof="0" dirty="0">
                <a:ln>
                  <a:noFill/>
                </a:ln>
                <a:solidFill>
                  <a:srgbClr val="A100FF"/>
                </a:solidFill>
                <a:effectLst/>
                <a:uLnTx/>
                <a:uFillTx/>
                <a:latin typeface="Arial"/>
                <a:ea typeface="+mn-ea"/>
                <a:cs typeface="+mn-cs"/>
              </a:rPr>
              <a:t>Satish Kumar (Team Leader)</a:t>
            </a:r>
          </a:p>
        </p:txBody>
      </p:sp>
      <p:cxnSp>
        <p:nvCxnSpPr>
          <p:cNvPr id="6" name="Straight Connector 5">
            <a:extLst>
              <a:ext uri="{FF2B5EF4-FFF2-40B4-BE49-F238E27FC236}">
                <a16:creationId xmlns:a16="http://schemas.microsoft.com/office/drawing/2014/main" id="{503A2336-9DAB-4FE3-86E5-A5694B473965}"/>
              </a:ext>
            </a:extLst>
          </p:cNvPr>
          <p:cNvCxnSpPr>
            <a:cxnSpLocks/>
          </p:cNvCxnSpPr>
          <p:nvPr/>
        </p:nvCxnSpPr>
        <p:spPr>
          <a:xfrm>
            <a:off x="6096000" y="1521230"/>
            <a:ext cx="0" cy="452372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D2BAEA9-C010-474F-8C80-BD3D504C25C1}"/>
              </a:ext>
            </a:extLst>
          </p:cNvPr>
          <p:cNvCxnSpPr/>
          <p:nvPr/>
        </p:nvCxnSpPr>
        <p:spPr>
          <a:xfrm>
            <a:off x="2623232"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66" name="Picture Placeholder 75">
            <a:extLst>
              <a:ext uri="{FF2B5EF4-FFF2-40B4-BE49-F238E27FC236}">
                <a16:creationId xmlns:a16="http://schemas.microsoft.com/office/drawing/2014/main" id="{5E355391-27FE-4824-9548-B5688C3FCC20}"/>
              </a:ext>
            </a:extLst>
          </p:cNvPr>
          <p:cNvPicPr>
            <a:picLocks noChangeAspect="1"/>
          </p:cNvPicPr>
          <p:nvPr/>
        </p:nvPicPr>
        <p:blipFill>
          <a:blip r:embed="rId3"/>
          <a:srcRect l="3534" t="4954" r="3534"/>
          <a:stretch>
            <a:fillRect/>
          </a:stretch>
        </p:blipFill>
        <p:spPr>
          <a:xfrm>
            <a:off x="7247041" y="2405772"/>
            <a:ext cx="1443656" cy="1493066"/>
          </a:xfrm>
          <a:prstGeom prst="rect">
            <a:avLst/>
          </a:prstGeom>
        </p:spPr>
      </p:pic>
      <p:sp>
        <p:nvSpPr>
          <p:cNvPr id="67" name="Text Placeholder 27">
            <a:extLst>
              <a:ext uri="{FF2B5EF4-FFF2-40B4-BE49-F238E27FC236}">
                <a16:creationId xmlns:a16="http://schemas.microsoft.com/office/drawing/2014/main" id="{AB89B70E-DDF2-41D3-9411-6AA78204B1DA}"/>
              </a:ext>
            </a:extLst>
          </p:cNvPr>
          <p:cNvSpPr txBox="1">
            <a:spLocks/>
          </p:cNvSpPr>
          <p:nvPr/>
        </p:nvSpPr>
        <p:spPr>
          <a:xfrm>
            <a:off x="9165643" y="2098914"/>
            <a:ext cx="2700000" cy="811161"/>
          </a:xfrm>
          <a:prstGeom prst="rect">
            <a:avLst/>
          </a:prstGeom>
        </p:spPr>
        <p:txBody>
          <a:bodyPr vert="horz" lIns="0" tIns="0" rIns="0" bIns="0" rtlCol="0" anchor="b">
            <a:normAutofit fontScale="92500" lnSpcReduction="1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Arial"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200"/>
              </a:spcBef>
              <a:spcAft>
                <a:spcPts val="1200"/>
              </a:spcAft>
              <a:buClrTx/>
              <a:buSzTx/>
              <a:buFont typeface="Arial" panose="020B0604020202020204" pitchFamily="34" charset="0"/>
              <a:buNone/>
              <a:tabLst/>
              <a:defRPr/>
            </a:pPr>
            <a:r>
              <a:rPr kumimoji="0" lang="en-GB" sz="3600" b="1" i="0" u="none" strike="noStrike" kern="1200" cap="none" spc="0" normalizeH="0" baseline="0" noProof="0" dirty="0">
                <a:ln>
                  <a:noFill/>
                </a:ln>
                <a:solidFill>
                  <a:srgbClr val="A100FF"/>
                </a:solidFill>
                <a:effectLst/>
                <a:uLnTx/>
                <a:uFillTx/>
                <a:latin typeface="Arial"/>
                <a:ea typeface="+mn-ea"/>
                <a:cs typeface="+mn-cs"/>
              </a:rPr>
              <a:t>Narsing Sharma</a:t>
            </a:r>
          </a:p>
        </p:txBody>
      </p:sp>
      <p:cxnSp>
        <p:nvCxnSpPr>
          <p:cNvPr id="29" name="Straight Connector 28">
            <a:extLst>
              <a:ext uri="{FF2B5EF4-FFF2-40B4-BE49-F238E27FC236}">
                <a16:creationId xmlns:a16="http://schemas.microsoft.com/office/drawing/2014/main" id="{B388F804-0525-4F8E-A5CE-A9E521C1E260}"/>
              </a:ext>
            </a:extLst>
          </p:cNvPr>
          <p:cNvCxnSpPr/>
          <p:nvPr/>
        </p:nvCxnSpPr>
        <p:spPr>
          <a:xfrm>
            <a:off x="9151259" y="3010298"/>
            <a:ext cx="1718008"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1" name="Table 2">
            <a:extLst>
              <a:ext uri="{FF2B5EF4-FFF2-40B4-BE49-F238E27FC236}">
                <a16:creationId xmlns:a16="http://schemas.microsoft.com/office/drawing/2014/main" id="{A29DB088-2EF4-4C53-A6E2-75C9C7F34CAC}"/>
              </a:ext>
            </a:extLst>
          </p:cNvPr>
          <p:cNvGraphicFramePr>
            <a:graphicFrameLocks noGrp="1"/>
          </p:cNvGraphicFramePr>
          <p:nvPr>
            <p:extLst>
              <p:ext uri="{D42A27DB-BD31-4B8C-83A1-F6EECF244321}">
                <p14:modId xmlns:p14="http://schemas.microsoft.com/office/powerpoint/2010/main" val="443526826"/>
              </p:ext>
            </p:extLst>
          </p:nvPr>
        </p:nvGraphicFramePr>
        <p:xfrm>
          <a:off x="461913" y="1173024"/>
          <a:ext cx="11617737" cy="378454"/>
        </p:xfrm>
        <a:graphic>
          <a:graphicData uri="http://schemas.openxmlformats.org/drawingml/2006/table">
            <a:tbl>
              <a:tblPr firstRow="1" bandRow="1">
                <a:tableStyleId>{D7AC3CCA-C797-4891-BE02-D94E43425B78}</a:tableStyleId>
              </a:tblPr>
              <a:tblGrid>
                <a:gridCol w="4382355">
                  <a:extLst>
                    <a:ext uri="{9D8B030D-6E8A-4147-A177-3AD203B41FA5}">
                      <a16:colId xmlns:a16="http://schemas.microsoft.com/office/drawing/2014/main" val="129918070"/>
                    </a:ext>
                  </a:extLst>
                </a:gridCol>
                <a:gridCol w="7235382">
                  <a:extLst>
                    <a:ext uri="{9D8B030D-6E8A-4147-A177-3AD203B41FA5}">
                      <a16:colId xmlns:a16="http://schemas.microsoft.com/office/drawing/2014/main" val="1188269312"/>
                    </a:ext>
                  </a:extLst>
                </a:gridCol>
              </a:tblGrid>
              <a:tr h="378454">
                <a:tc>
                  <a:txBody>
                    <a:bodyPr/>
                    <a:lstStyle/>
                    <a:p>
                      <a:r>
                        <a:rPr lang="en-US" sz="1400" dirty="0">
                          <a:solidFill>
                            <a:srgbClr val="A100FF"/>
                          </a:solidFill>
                        </a:rPr>
                        <a:t>TEAM NAME: </a:t>
                      </a:r>
                      <a:r>
                        <a:rPr lang="en-US" sz="1400" dirty="0" err="1">
                          <a:solidFill>
                            <a:srgbClr val="A100FF"/>
                          </a:solidFill>
                        </a:rPr>
                        <a:t>UpStream</a:t>
                      </a:r>
                      <a:endParaRPr lang="en-US" sz="1400" dirty="0">
                        <a:solidFill>
                          <a:srgbClr val="A100FF"/>
                        </a:solidFill>
                      </a:endParaRPr>
                    </a:p>
                  </a:txBody>
                  <a:tcPr>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solidFill>
                          <a:srgbClr val="A100FF"/>
                        </a:solidFill>
                      </a:endParaRPr>
                    </a:p>
                  </a:txBody>
                  <a:tcPr>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2234512452"/>
                  </a:ext>
                </a:extLst>
              </a:tr>
            </a:tbl>
          </a:graphicData>
        </a:graphic>
      </p:graphicFrame>
      <p:sp>
        <p:nvSpPr>
          <p:cNvPr id="26" name="TextBox 25">
            <a:extLst>
              <a:ext uri="{FF2B5EF4-FFF2-40B4-BE49-F238E27FC236}">
                <a16:creationId xmlns:a16="http://schemas.microsoft.com/office/drawing/2014/main" id="{F2218D32-4F17-4A5E-9BE4-29837BF54E70}"/>
              </a:ext>
            </a:extLst>
          </p:cNvPr>
          <p:cNvSpPr txBox="1"/>
          <p:nvPr/>
        </p:nvSpPr>
        <p:spPr>
          <a:xfrm>
            <a:off x="2623232" y="3141433"/>
            <a:ext cx="276268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College: IIT Roorkee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Stream:</a:t>
            </a:r>
            <a:r>
              <a:rPr lang="en-US" sz="1200" dirty="0">
                <a:solidFill>
                  <a:srgbClr val="000000"/>
                </a:solidFill>
                <a:latin typeface="Arial"/>
              </a:rPr>
              <a:t>Civil Engineering</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Year of graduation:2028</a:t>
            </a:r>
          </a:p>
        </p:txBody>
      </p:sp>
      <p:sp>
        <p:nvSpPr>
          <p:cNvPr id="20" name="TextBox 19">
            <a:extLst>
              <a:ext uri="{FF2B5EF4-FFF2-40B4-BE49-F238E27FC236}">
                <a16:creationId xmlns:a16="http://schemas.microsoft.com/office/drawing/2014/main" id="{10AF310E-EC91-4906-9FCC-95C833C3D011}"/>
              </a:ext>
            </a:extLst>
          </p:cNvPr>
          <p:cNvSpPr txBox="1"/>
          <p:nvPr/>
        </p:nvSpPr>
        <p:spPr>
          <a:xfrm>
            <a:off x="9122721" y="3141433"/>
            <a:ext cx="276268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College: IIT Roorkee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Arial"/>
                <a:ea typeface="+mn-ea"/>
                <a:cs typeface="+mn-cs"/>
              </a:rPr>
              <a:t>Stream:Civil</a:t>
            </a:r>
            <a:r>
              <a:rPr kumimoji="0" lang="en-US" sz="1200" b="0" i="0" u="none" strike="noStrike" kern="1200" cap="none" spc="0" normalizeH="0" baseline="0" noProof="0" dirty="0">
                <a:ln>
                  <a:noFill/>
                </a:ln>
                <a:solidFill>
                  <a:srgbClr val="000000"/>
                </a:solidFill>
                <a:effectLst/>
                <a:uLnTx/>
                <a:uFillTx/>
                <a:latin typeface="Arial"/>
                <a:ea typeface="+mn-ea"/>
                <a:cs typeface="+mn-cs"/>
              </a:rPr>
              <a:t>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Year of graduation:2028</a:t>
            </a:r>
          </a:p>
        </p:txBody>
      </p:sp>
    </p:spTree>
    <p:extLst>
      <p:ext uri="{BB962C8B-B14F-4D97-AF65-F5344CB8AC3E}">
        <p14:creationId xmlns:p14="http://schemas.microsoft.com/office/powerpoint/2010/main" val="295947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Describe the problem statement (200 words)</a:t>
            </a:r>
            <a:endParaRPr lang="en-IN" sz="2000" dirty="0">
              <a:solidFill>
                <a:schemeClr val="bg1"/>
              </a:solidFill>
              <a:latin typeface="Graphik" panose="020B0503030202060203" pitchFamily="34" charset="0"/>
              <a:cs typeface="Arial" panose="020B0604020202020204" pitchFamily="34" charset="0"/>
            </a:endParaRPr>
          </a:p>
        </p:txBody>
      </p:sp>
      <p:sp>
        <p:nvSpPr>
          <p:cNvPr id="20" name="Body TextBox"/>
          <p:cNvSpPr txBox="1"/>
          <p:nvPr/>
        </p:nvSpPr>
        <p:spPr>
          <a:xfrm>
            <a:off x="361458" y="1100000"/>
            <a:ext cx="11282796" cy="4900000"/>
          </a:xfrm>
          <a:prstGeom prst="rect">
            <a:avLst/>
          </a:prstGeom>
          <a:noFill/>
        </p:spPr>
        <p:txBody>
          <a:bodyPr wrap="square" lIns="0" tIns="0" rIns="0" bIns="0">
            <a:normAutofit/>
          </a:bodyPr>
          <a:lstStyle/>
          <a:p>
            <a:pPr marL="0" indent="0" algn="just">
              <a:lnSpc>
                <a:spcPct val="100000"/>
              </a:lnSpc>
              <a:spcAft>
                <a:spcPts val="600"/>
              </a:spcAft>
              <a:buNone/>
            </a:pPr>
            <a:r>
              <a:rPr lang="en-US" sz="2000" dirty="0">
                <a:solidFill>
                  <a:srgbClr val="000000"/>
                </a:solidFill>
                <a:latin typeface="Arial"/>
                <a:cs typeface="Arial"/>
              </a:rPr>
              <a:t>A vehicle assembly line is a chain where one slow station stops everything behind it. When a station begins drifting off its take time, the effect ripples downstream for thirty or forty minutes before anyone reacts, and by then the line is already down. Unplanned downtime costs automotive plants roughly $2.3 million per hour, and each hour costs about 50% more than it did in 2019 (Siemens, 2024).</a:t>
            </a:r>
          </a:p>
          <a:p>
            <a:pPr marL="0" indent="0" algn="just">
              <a:lnSpc>
                <a:spcPct val="100000"/>
              </a:lnSpc>
              <a:spcAft>
                <a:spcPts val="600"/>
              </a:spcAft>
              <a:buNone/>
            </a:pPr>
            <a:r>
              <a:rPr lang="en-US" sz="2000" dirty="0">
                <a:solidFill>
                  <a:srgbClr val="000000"/>
                </a:solidFill>
                <a:latin typeface="Arial"/>
                <a:cs typeface="Arial"/>
              </a:rPr>
              <a:t>Defects behave the same way. A torque setting drifts at Station 12. Nothing fails there. The fault only surfaces at final inspection, forty minutes and thirty vehicles later. Under the widely used “rule of ten”, every stage a defect passes undetected multiplies the cost of correcting it tenfold: from seconds of rework at the station, to disassembly at end of line, to a field recall.</a:t>
            </a:r>
          </a:p>
          <a:p>
            <a:pPr marL="0" indent="0" algn="just">
              <a:lnSpc>
                <a:spcPct val="100000"/>
              </a:lnSpc>
              <a:spcAft>
                <a:spcPts val="600"/>
              </a:spcAft>
              <a:buNone/>
            </a:pPr>
            <a:r>
              <a:rPr lang="en-US" sz="2000" dirty="0">
                <a:solidFill>
                  <a:srgbClr val="000000"/>
                </a:solidFill>
                <a:latin typeface="Arial"/>
                <a:cs typeface="Arial"/>
              </a:rPr>
              <a:t>Plants are not short of data; they are covered in sensors and PLCs. The problem is that every tool they own is retrospective. Dashboards and MES reports describe what has already happened. Nothing tells a supervisor where the line will jam in two hours, or which station is quietly producing tomorrow’s warranty claims.</a:t>
            </a:r>
          </a:p>
          <a:p>
            <a:pPr marL="0" indent="0" algn="just">
              <a:lnSpc>
                <a:spcPct val="100000"/>
              </a:lnSpc>
              <a:spcAft>
                <a:spcPts val="600"/>
              </a:spcAft>
              <a:buNone/>
            </a:pPr>
            <a:r>
              <a:rPr lang="en-US" sz="2000" dirty="0">
                <a:solidFill>
                  <a:srgbClr val="000000"/>
                </a:solidFill>
                <a:latin typeface="Arial"/>
                <a:cs typeface="Arial"/>
              </a:rPr>
              <a:t>India built 28 million vehicles in 2024. Even </a:t>
            </a:r>
            <a:r>
              <a:rPr lang="en-US" sz="2000" dirty="0" err="1">
                <a:solidFill>
                  <a:srgbClr val="000000"/>
                </a:solidFill>
                <a:latin typeface="Arial"/>
                <a:cs typeface="Arial"/>
              </a:rPr>
              <a:t>singleDigit</a:t>
            </a:r>
            <a:r>
              <a:rPr lang="en-US" sz="2000" dirty="0">
                <a:solidFill>
                  <a:srgbClr val="000000"/>
                </a:solidFill>
                <a:latin typeface="Arial"/>
                <a:cs typeface="Arial"/>
              </a:rPr>
              <a:t> throughput and rework gains are worth crores per plant annually.</a:t>
            </a:r>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40961" y="342685"/>
            <a:ext cx="11282796" cy="423125"/>
          </a:xfrm>
          <a:solidFill>
            <a:srgbClr val="A100FF"/>
          </a:solidFill>
        </p:spPr>
        <p:txBody>
          <a:bodyPr vert="horz" lIns="91440" tIns="45720" rIns="91440" bIns="45720" rtlCol="0" anchor="ctr">
            <a:normAutofit/>
          </a:bodyPr>
          <a:lstStyle/>
          <a:p>
            <a:r>
              <a:rPr lang="en-IN" sz="2000" b="1" dirty="0">
                <a:solidFill>
                  <a:schemeClr val="bg1"/>
                </a:solidFill>
                <a:latin typeface="Graphik" panose="020B0503030202060203" pitchFamily="34" charset="0"/>
                <a:cs typeface="Arial" panose="020B0604020202020204" pitchFamily="34" charset="0"/>
              </a:rPr>
              <a:t>Proposed solution (200 words)</a:t>
            </a:r>
          </a:p>
        </p:txBody>
      </p:sp>
      <p:sp>
        <p:nvSpPr>
          <p:cNvPr id="20" name="Body TextBox"/>
          <p:cNvSpPr txBox="1"/>
          <p:nvPr/>
        </p:nvSpPr>
        <p:spPr>
          <a:xfrm>
            <a:off x="361458" y="1099999"/>
            <a:ext cx="11692890" cy="5415315"/>
          </a:xfrm>
          <a:prstGeom prst="rect">
            <a:avLst/>
          </a:prstGeom>
          <a:noFill/>
        </p:spPr>
        <p:txBody>
          <a:bodyPr wrap="square" lIns="0" tIns="0" rIns="0" bIns="0">
            <a:normAutofit/>
          </a:bodyPr>
          <a:lstStyle/>
          <a:p>
            <a:pPr marL="0" indent="0" algn="just">
              <a:lnSpc>
                <a:spcPct val="100000"/>
              </a:lnSpc>
              <a:spcAft>
                <a:spcPts val="600"/>
              </a:spcAft>
              <a:buNone/>
            </a:pPr>
            <a:r>
              <a:rPr lang="en-US" sz="2000" dirty="0">
                <a:solidFill>
                  <a:srgbClr val="000000"/>
                </a:solidFill>
                <a:latin typeface="Arial"/>
                <a:cs typeface="Arial"/>
              </a:rPr>
              <a:t>ShadowLine is a digital twin of the assembly line that runs four hours ahead of it.</a:t>
            </a:r>
          </a:p>
          <a:p>
            <a:pPr marL="0" indent="0" algn="just">
              <a:lnSpc>
                <a:spcPct val="100000"/>
              </a:lnSpc>
              <a:spcAft>
                <a:spcPts val="600"/>
              </a:spcAft>
              <a:buNone/>
            </a:pPr>
            <a:r>
              <a:rPr lang="en-US" sz="2000" dirty="0">
                <a:solidFill>
                  <a:srgbClr val="000000"/>
                </a:solidFill>
                <a:latin typeface="Arial"/>
                <a:cs typeface="Arial"/>
              </a:rPr>
              <a:t>We deliberately do not build a photorealistic 3D factory. The twin is a lightweight discrete-event model of what actually determines output: station cycle times, station states (active, blocked, starved), buffer levels, and the genealogy of each part. Weld physics, robot kinematics and CAD geometry are skipped.</a:t>
            </a:r>
          </a:p>
          <a:p>
            <a:pPr marL="0" indent="0" algn="just">
              <a:lnSpc>
                <a:spcPct val="100000"/>
              </a:lnSpc>
              <a:spcAft>
                <a:spcPts val="600"/>
              </a:spcAft>
              <a:buNone/>
            </a:pPr>
            <a:r>
              <a:rPr lang="en-US" sz="2000" dirty="0">
                <a:solidFill>
                  <a:srgbClr val="000000"/>
                </a:solidFill>
                <a:latin typeface="Arial"/>
                <a:cs typeface="Arial"/>
              </a:rPr>
              <a:t>Four layers. The signal layer reads what plants already emit: PLC station states, buffer counts, take deviation, torque and vision logs. No new hardware, so no retrofit capex. The twin core mirrors the live line. Three prediction heads run on top: bottleneck forecasting, using the Active Period Method (which identifies bottlenecks from uninterrupted active time alone) with Monte Carlo simulation of the next four hours, re-forked every 60 seconds; defect propagation, a learned station to station lag graph that traces an end of line failure back to its causing station; and virtual sensors, which infer state at manual or unsensored stations from neighbouring buffer levels and takt deviation. The action layer issues ranked alerts carrying cause, confidence and time to impact.</a:t>
            </a:r>
          </a:p>
          <a:p>
            <a:pPr marL="0" indent="0" algn="just">
              <a:lnSpc>
                <a:spcPct val="100000"/>
              </a:lnSpc>
              <a:spcAft>
                <a:spcPts val="600"/>
              </a:spcAft>
              <a:buNone/>
            </a:pPr>
            <a:r>
              <a:rPr lang="en-US" sz="2000" dirty="0">
                <a:solidFill>
                  <a:srgbClr val="000000"/>
                </a:solidFill>
                <a:latin typeface="Arial"/>
                <a:cs typeface="Arial"/>
              </a:rPr>
              <a:t>The output is not a dashboard. It is one line to a supervisor: “Station 14, 73% likely to bottleneck by 14:20.”</a:t>
            </a:r>
          </a:p>
        </p:txBody>
      </p:sp>
    </p:spTree>
    <p:extLst>
      <p:ext uri="{BB962C8B-B14F-4D97-AF65-F5344CB8AC3E}">
        <p14:creationId xmlns:p14="http://schemas.microsoft.com/office/powerpoint/2010/main" val="220598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00020" y="296965"/>
            <a:ext cx="11591959" cy="480276"/>
          </a:xfrm>
          <a:solidFill>
            <a:srgbClr val="A100FF"/>
          </a:solidFill>
        </p:spPr>
        <p:txBody>
          <a:bodyPr vert="horz" lIns="91440" tIns="45720" rIns="91440" bIns="45720" rtlCol="0" anchor="ctr">
            <a:noAutofit/>
          </a:bodyPr>
          <a:lstStyle/>
          <a:p>
            <a:r>
              <a:rPr lang="en-US" sz="2000" b="1" dirty="0">
                <a:solidFill>
                  <a:schemeClr val="bg1"/>
                </a:solidFill>
                <a:latin typeface="Graphik" panose="020B0503030202060203" pitchFamily="34" charset="0"/>
                <a:cs typeface="Arial" panose="020B0604020202020204" pitchFamily="34" charset="0"/>
              </a:rPr>
              <a:t>Video</a:t>
            </a:r>
            <a:endParaRPr lang="en-IN" sz="2000" b="1" dirty="0">
              <a:solidFill>
                <a:schemeClr val="bg1"/>
              </a:solidFill>
              <a:latin typeface="Graphik" panose="020B0503030202060203" pitchFamily="34" charset="0"/>
              <a:cs typeface="Arial" panose="020B0604020202020204" pitchFamily="34" charset="0"/>
            </a:endParaRPr>
          </a:p>
        </p:txBody>
      </p:sp>
      <p:sp>
        <p:nvSpPr>
          <p:cNvPr id="3" name="TextBox 2">
            <a:extLst>
              <a:ext uri="{FF2B5EF4-FFF2-40B4-BE49-F238E27FC236}">
                <a16:creationId xmlns:a16="http://schemas.microsoft.com/office/drawing/2014/main" id="{6C133290-0685-69AC-D397-A71181F9E4D0}"/>
              </a:ext>
            </a:extLst>
          </p:cNvPr>
          <p:cNvSpPr txBox="1"/>
          <p:nvPr/>
        </p:nvSpPr>
        <p:spPr>
          <a:xfrm>
            <a:off x="237364" y="777241"/>
            <a:ext cx="8501686" cy="369332"/>
          </a:xfrm>
          <a:prstGeom prst="rect">
            <a:avLst/>
          </a:prstGeom>
          <a:noFill/>
        </p:spPr>
        <p:txBody>
          <a:bodyPr wrap="none" rtlCol="0">
            <a:spAutoFit/>
          </a:bodyPr>
          <a:lstStyle/>
          <a:p>
            <a:r>
              <a:rPr lang="en-IN" dirty="0"/>
              <a:t>Video Link (</a:t>
            </a:r>
            <a:r>
              <a:rPr lang="en-IN" dirty="0" err="1"/>
              <a:t>Youtube</a:t>
            </a:r>
            <a:r>
              <a:rPr lang="en-IN" dirty="0"/>
              <a:t>) = https://youtube.com/shorts/GrsjU1JUQ2E?si=KNjnfbGkxeU8Hsn7</a:t>
            </a:r>
          </a:p>
        </p:txBody>
      </p:sp>
      <p:pic>
        <p:nvPicPr>
          <p:cNvPr id="8" name="WhatsApp Video 2026-08-16 at 10.43.34 PM">
            <a:hlinkClick r:id="" action="ppaction://media"/>
            <a:extLst>
              <a:ext uri="{FF2B5EF4-FFF2-40B4-BE49-F238E27FC236}">
                <a16:creationId xmlns:a16="http://schemas.microsoft.com/office/drawing/2014/main" id="{BE316D45-783D-1165-7703-01A658B80BB5}"/>
              </a:ext>
            </a:extLst>
          </p:cNvPr>
          <p:cNvPicPr>
            <a:picLocks noChangeAspect="1"/>
          </p:cNvPicPr>
          <p:nvPr>
            <a:videoFile r:link="rId1"/>
            <p:extLst>
              <p:ext uri="{DAA4B4D4-6D71-4841-9C94-3DE7FCFB9230}">
                <p14:media xmlns:p14="http://schemas.microsoft.com/office/powerpoint/2010/main" r:embed="rId2">
                  <p14:trim end="0.5102"/>
                </p14:media>
              </p:ext>
            </p:extLst>
          </p:nvPr>
        </p:nvPicPr>
        <p:blipFill>
          <a:blip r:embed="rId4"/>
          <a:stretch>
            <a:fillRect/>
          </a:stretch>
        </p:blipFill>
        <p:spPr>
          <a:xfrm>
            <a:off x="8952998" y="1219588"/>
            <a:ext cx="3171606" cy="5638412"/>
          </a:xfrm>
          <a:prstGeom prst="rect">
            <a:avLst/>
          </a:prstGeom>
        </p:spPr>
      </p:pic>
    </p:spTree>
    <p:extLst>
      <p:ext uri="{BB962C8B-B14F-4D97-AF65-F5344CB8AC3E}">
        <p14:creationId xmlns:p14="http://schemas.microsoft.com/office/powerpoint/2010/main" val="384560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909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201</TotalTime>
  <Words>563</Words>
  <Application>Microsoft Office PowerPoint</Application>
  <PresentationFormat>Widescreen</PresentationFormat>
  <Paragraphs>27</Paragraphs>
  <Slides>6</Slides>
  <Notes>1</Notes>
  <HiddenSlides>0</HiddenSlides>
  <MMClips>1</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6</vt:i4>
      </vt:variant>
    </vt:vector>
  </HeadingPairs>
  <TitlesOfParts>
    <vt:vector size="24"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GT Sectra Fine Rg</vt:lpstr>
      <vt:lpstr>System Font</vt:lpstr>
      <vt:lpstr>Accenture 2025</vt:lpstr>
      <vt:lpstr>1_Titles</vt:lpstr>
      <vt:lpstr>Titles</vt:lpstr>
      <vt:lpstr>1_Office Theme</vt:lpstr>
      <vt:lpstr>1_Accenture 2025</vt:lpstr>
      <vt:lpstr>PowerPoint Presentation</vt:lpstr>
      <vt:lpstr>Team details</vt:lpstr>
      <vt:lpstr>Describe the problem statement (200 words)</vt:lpstr>
      <vt:lpstr>Proposed solution (200 words)</vt:lpstr>
      <vt:lpstr>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NARSING SHARMA (24113089)</cp:lastModifiedBy>
  <cp:revision>13</cp:revision>
  <dcterms:created xsi:type="dcterms:W3CDTF">2026-07-24T04:09:52Z</dcterms:created>
  <dcterms:modified xsi:type="dcterms:W3CDTF">2026-08-16T17:20:56Z</dcterms:modified>
</cp:coreProperties>
</file>